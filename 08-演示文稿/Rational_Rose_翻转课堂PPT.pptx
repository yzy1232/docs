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5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9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6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3" r:id="rId32"/>
    <p:sldId id="284" r:id="rId33"/>
    <p:sldId id="282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144" y="72"/>
      </p:cViewPr>
      <p:guideLst>
        <p:guide orient="horz" pos="164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大家好，欢迎来到本次关于Rational Rose的翻转课堂。今天，我们将一起深入学习这款经典的UML建模工具，从基础概念到实际应用，希望能帮助大家全面掌握它的使用方法。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本次课程将分为五个部分。首先，我们会回顾课前预习的内容，了解Rational Rose的基本概念。接着，进入核心的课中互动环节，通过实践操作学习它的主要功能。然后，我们会通过一个图书管理系统的案例来巩固所学知识。最后，进行总结和答疑。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在课前预习中，我们了解到Rational Rose是一款强大的UML建模工具。它由IBM公司开发，是软件工程领域的标杆产品，主要用于帮助我们进行系统的分析、设计和文档编写。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那么，为什么我们要学习Rational Rose呢？首先，它全面支持UML标准，能绘制各种类型的图表。其次，它强大的双向工程能力可以让我们的模型和代码保持同步。此外，它还支持团队协作，并能自动生成文档，大大提升了开发效率。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现在，我们来进行第一个互动问题。请大家思考一下，在软件工程中，UML建模的主要目的是什么？而Rational Rose又在其中扮演了什么样的角色呢？大家可以结合课前预习的内容，准备一下自己的答案。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接下来，我们进入课中互动环节。首先，我们来了解一下Rational Rose的安装过程和主界面。大家可以看到，主界面主要由菜单栏、工具栏、模型浏览器、图表编辑区和文档区组成，每个部分都有其特定的功能。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了解了界面之后，我们来动手创建第一个项目。步骤非常简单，只需要通过File菜单新建一个项目，选择合适的项目类型，设置好名称和路径，就可以开始我们的建模之旅了。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接下来，我们学习第一种UML图——用例图。用例图主要用来描述系统的功能以及用户如何与系统进行交互。它的基本元素包括参与者、用例和系统边界。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了解了基本概念后，我们来动手绘制用例图。首先在Use Case View中创建参与者和用例，然后使用工具栏中的工具将它们连接起来，就可以完成一个简单的用例图了。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学习了用例图的绘制后，我们来思考第二个问题。在图书管理系统中，“读者”和“借阅图书”分别对应用例图中的什么元素？它们之间应该是什么关系呢？大家可以尝试在脑海中画一下这个简单的用例图。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接下来，我们学习第二种重要的UML图——类图。类图主要用来描述系统的静态结构，包括类、属性、方法以及它们之间的各种关系，是面向对象分析和设计的核心。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现在，我们来实践绘制类图。在Logical View中创建类，然后为类添加属性和方法，最后通过工具栏中的工具建立类与类之间的关系，如关联、继承等。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接下来是时序图。时序图主要用来描述对象之间的交互顺序，它能清晰地展示出在一个特定场景下，消息是如何在各个对象之间传递的。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它的基本元素包括：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1. 对象：也就是交互的参与者。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2. 生命线：表示对象在一段时间内是存在的，通常用垂直的虚线表示。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3. 消息：代表对象之间的通信，我们在后面的章节会详细介绍同步和异步消息的区别。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大家可以参考右侧的示意图，直观地看到这些元素是如何组合在一起的。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了解了时序图的基本概念后，我们来动手绘制。首先在Logical View中创建一个Sequence Diagram，然后添加对象和生命线，最后通过添加消息来展示对象间的交互过程。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学习了时序图后，我们来看第三个互动问题。请大家描述一下在“用户登录”这个场景中，用户、系统和数据库之间是如何交互的？并尝试在脑海中绘制一个简单的时序图。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现在，我们将通过一个具体的案例来综合运用所学知识。这个案例是一个图书管理系统，它包含了图书管理、读者管理、借阅管理等功能，参与者主要是读者和管理员。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这是我们为图书管理系统绘制的用例图。大家可以看到，图中包含了读者和管理员两个参与者，以及借阅图书、归还图书、查询图书等主要用例。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接下来是类图。这个类图展示了图书管理系统中的核心类，如Book、Reader、BorrowRecord和Librarian，以及它们之间的关联关系。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最后是时序图。这个时序图详细描述了在“借阅图书”这个场景下，读者、图书管理系统和数据库之间的消息交互顺序，清晰地展示了整个借阅流程。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看完了案例分析，我们来思考第四个问题。在图书管理系统的类图中，“Book”类和“BorrowRecord”类之间是什么关系？这种关系的具体含义是什么呢？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课程的最后，我们来总结一下Rational Rose的优缺点。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首先看优点，Rational Rose最大的特点就是功能强大且全面，它是UML标准的坚定支持者。它拥有出色的双向工程能力，既可以从代码生成图，也可以从图生成代码，这对开发非常有帮助。此外，它支持团队协作和版本控制，并且能自动生成大量文档，极大地提升了工作效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然而，它的缺点也不容忽视。软件的界面设计相对比较陈旧，对于新手来说学习曲线比较陡峭。同时，作为一款老牌商业软件，它对最新的技术框架支持不够及时，而且需要付费购买，这在一定程度上限制了它的普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总的来说，对于需要维护老系统或者进行大型、严格的软件工程管理的团队，Rational Rose依然是一个非常可靠的选择。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除了Rational Rose，还有很多优秀的UML建模工具。比如开源的StarUML，功能全面的Visual Paradigm，适合大型项目的Enterprise Architect，以及简单易用的Visio。大家可以根据自己的需求选择合适的工具。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在选择UML建模工具时，我们应该综合考虑项目规模、团队熟悉度、工具功能和成本等因素，选择最适合自己的工具。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首先，要根据项目规模来定。小项目用轻量工具就够了，大项目则需要功能全面的工具。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其次，团队的熟悉程度很重要，这能直接影响上手速度和效率。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第三，要评估工具的功能是否满足需求，以及能否和其他开发工具兼容。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最后，在条件允许的情况下，优先使用开源或免费工具，以控制成本。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最后一个互动问题。通过今天的学习，大家认为Rational Rose最适合在什么场景下使用？相比其他工具，它的核心竞争力又是什么呢？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为了帮助大家进一步学习，这里推荐一些学习资源，包括官方文档、在线教程、相关书籍和视频课程，希望对大家有所帮助。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最后，我们对本次课程进行一个简单的总结。我们学习了Rational Rose的使用方法，并通过案例进行了实践。希望大家能够将所学知识运用到实际中，并在未来继续深入学习，不断提升自己的专业能力。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svg"/><Relationship Id="rId8" Type="http://schemas.openxmlformats.org/officeDocument/2006/relationships/image" Target="../media/image13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jpeg"/><Relationship Id="rId7" Type="http://schemas.openxmlformats.org/officeDocument/2006/relationships/image" Target="../media/image22.svg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3" Type="http://schemas.openxmlformats.org/officeDocument/2006/relationships/tags" Target="../tags/tag2.xml"/><Relationship Id="rId27" Type="http://schemas.openxmlformats.org/officeDocument/2006/relationships/notesSlide" Target="../notesSlides/notesSlide4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16.xml"/><Relationship Id="rId24" Type="http://schemas.openxmlformats.org/officeDocument/2006/relationships/tags" Target="../tags/tag15.xml"/><Relationship Id="rId23" Type="http://schemas.openxmlformats.org/officeDocument/2006/relationships/image" Target="../media/image12.svg"/><Relationship Id="rId22" Type="http://schemas.openxmlformats.org/officeDocument/2006/relationships/image" Target="../media/image11.png"/><Relationship Id="rId21" Type="http://schemas.openxmlformats.org/officeDocument/2006/relationships/tags" Target="../tags/tag14.xml"/><Relationship Id="rId20" Type="http://schemas.openxmlformats.org/officeDocument/2006/relationships/tags" Target="../tags/tag13.xml"/><Relationship Id="rId2" Type="http://schemas.openxmlformats.org/officeDocument/2006/relationships/tags" Target="../tags/tag1.xml"/><Relationship Id="rId19" Type="http://schemas.openxmlformats.org/officeDocument/2006/relationships/tags" Target="../tags/tag12.xml"/><Relationship Id="rId18" Type="http://schemas.openxmlformats.org/officeDocument/2006/relationships/tags" Target="../tags/tag11.xml"/><Relationship Id="rId17" Type="http://schemas.openxmlformats.org/officeDocument/2006/relationships/image" Target="../media/image29.svg"/><Relationship Id="rId16" Type="http://schemas.openxmlformats.org/officeDocument/2006/relationships/image" Target="../media/image28.png"/><Relationship Id="rId15" Type="http://schemas.openxmlformats.org/officeDocument/2006/relationships/tags" Target="../tags/tag10.xml"/><Relationship Id="rId14" Type="http://schemas.openxmlformats.org/officeDocument/2006/relationships/tags" Target="../tags/tag9.xml"/><Relationship Id="rId13" Type="http://schemas.openxmlformats.org/officeDocument/2006/relationships/tags" Target="../tags/tag8.xml"/><Relationship Id="rId12" Type="http://schemas.openxmlformats.org/officeDocument/2006/relationships/tags" Target="../tags/tag7.xml"/><Relationship Id="rId11" Type="http://schemas.openxmlformats.org/officeDocument/2006/relationships/image" Target="../media/image27.svg"/><Relationship Id="rId10" Type="http://schemas.openxmlformats.org/officeDocument/2006/relationships/image" Target="../media/image26.pn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12.xml"/><Relationship Id="rId14" Type="http://schemas.openxmlformats.org/officeDocument/2006/relationships/image" Target="../media/image23.jpeg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image" Target="../media/image49.svg"/><Relationship Id="rId6" Type="http://schemas.openxmlformats.org/officeDocument/2006/relationships/image" Target="../media/image48.pn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45.svg"/><Relationship Id="rId2" Type="http://schemas.openxmlformats.org/officeDocument/2006/relationships/image" Target="../media/image44.png"/><Relationship Id="rId12" Type="http://schemas.openxmlformats.org/officeDocument/2006/relationships/notesSlide" Target="../notesSlides/notesSlide7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52.jpe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0.svg"/><Relationship Id="rId8" Type="http://schemas.openxmlformats.org/officeDocument/2006/relationships/image" Target="../media/image59.png"/><Relationship Id="rId7" Type="http://schemas.openxmlformats.org/officeDocument/2006/relationships/image" Target="../media/image58.svg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Relationship Id="rId3" Type="http://schemas.openxmlformats.org/officeDocument/2006/relationships/image" Target="../media/image54.svg"/><Relationship Id="rId2" Type="http://schemas.openxmlformats.org/officeDocument/2006/relationships/image" Target="../media/image53.png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63.jpeg"/><Relationship Id="rId11" Type="http://schemas.openxmlformats.org/officeDocument/2006/relationships/image" Target="../media/image62.svg"/><Relationship Id="rId10" Type="http://schemas.openxmlformats.org/officeDocument/2006/relationships/image" Target="../media/image61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" Type="http://schemas.openxmlformats.org/officeDocument/2006/relationships/image" Target="../media/image68.png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67.svg"/><Relationship Id="rId4" Type="http://schemas.openxmlformats.org/officeDocument/2006/relationships/image" Target="../media/image66.png"/><Relationship Id="rId3" Type="http://schemas.openxmlformats.org/officeDocument/2006/relationships/image" Target="../media/image65.svg"/><Relationship Id="rId2" Type="http://schemas.openxmlformats.org/officeDocument/2006/relationships/image" Target="../media/image64.png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70.jpe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74.svg"/><Relationship Id="rId4" Type="http://schemas.openxmlformats.org/officeDocument/2006/relationships/image" Target="../media/image73.png"/><Relationship Id="rId3" Type="http://schemas.openxmlformats.org/officeDocument/2006/relationships/image" Target="../media/image72.svg"/><Relationship Id="rId2" Type="http://schemas.openxmlformats.org/officeDocument/2006/relationships/image" Target="../media/image71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77.jpe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svg"/><Relationship Id="rId8" Type="http://schemas.openxmlformats.org/officeDocument/2006/relationships/image" Target="../media/image68.png"/><Relationship Id="rId7" Type="http://schemas.openxmlformats.org/officeDocument/2006/relationships/image" Target="../media/image83.svg"/><Relationship Id="rId6" Type="http://schemas.openxmlformats.org/officeDocument/2006/relationships/image" Target="../media/image82.png"/><Relationship Id="rId5" Type="http://schemas.openxmlformats.org/officeDocument/2006/relationships/image" Target="../media/image81.svg"/><Relationship Id="rId4" Type="http://schemas.openxmlformats.org/officeDocument/2006/relationships/image" Target="../media/image80.png"/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2" Type="http://schemas.openxmlformats.org/officeDocument/2006/relationships/notesSlide" Target="../notesSlides/notesSlide12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4.jpe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7.jpeg"/><Relationship Id="rId5" Type="http://schemas.openxmlformats.org/officeDocument/2006/relationships/image" Target="../media/image47.svg"/><Relationship Id="rId4" Type="http://schemas.openxmlformats.org/officeDocument/2006/relationships/image" Target="../media/image46.png"/><Relationship Id="rId3" Type="http://schemas.openxmlformats.org/officeDocument/2006/relationships/image" Target="../media/image86.svg"/><Relationship Id="rId2" Type="http://schemas.openxmlformats.org/officeDocument/2006/relationships/image" Target="../media/image85.png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5.svg"/><Relationship Id="rId8" Type="http://schemas.openxmlformats.org/officeDocument/2006/relationships/image" Target="../media/image94.png"/><Relationship Id="rId7" Type="http://schemas.openxmlformats.org/officeDocument/2006/relationships/image" Target="../media/image93.svg"/><Relationship Id="rId6" Type="http://schemas.openxmlformats.org/officeDocument/2006/relationships/image" Target="../media/image92.png"/><Relationship Id="rId5" Type="http://schemas.openxmlformats.org/officeDocument/2006/relationships/image" Target="../media/image91.svg"/><Relationship Id="rId4" Type="http://schemas.openxmlformats.org/officeDocument/2006/relationships/image" Target="../media/image90.png"/><Relationship Id="rId3" Type="http://schemas.openxmlformats.org/officeDocument/2006/relationships/image" Target="../media/image89.svg"/><Relationship Id="rId2" Type="http://schemas.openxmlformats.org/officeDocument/2006/relationships/image" Target="../media/image88.png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96.jpeg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98.svg"/><Relationship Id="rId2" Type="http://schemas.openxmlformats.org/officeDocument/2006/relationships/image" Target="../media/image97.png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86.svg"/><Relationship Id="rId6" Type="http://schemas.openxmlformats.org/officeDocument/2006/relationships/image" Target="../media/image85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3" Type="http://schemas.openxmlformats.org/officeDocument/2006/relationships/image" Target="../media/image100.svg"/><Relationship Id="rId2" Type="http://schemas.openxmlformats.org/officeDocument/2006/relationships/image" Target="../media/image99.png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05.svg"/><Relationship Id="rId3" Type="http://schemas.openxmlformats.org/officeDocument/2006/relationships/image" Target="../media/image104.png"/><Relationship Id="rId2" Type="http://schemas.openxmlformats.org/officeDocument/2006/relationships/image" Target="../media/image103.jpeg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6.jpeg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7.jpe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3" Type="http://schemas.openxmlformats.org/officeDocument/2006/relationships/image" Target="../media/image109.svg"/><Relationship Id="rId2" Type="http://schemas.openxmlformats.org/officeDocument/2006/relationships/image" Target="../media/image108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13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" Type="http://schemas.openxmlformats.org/officeDocument/2006/relationships/image" Target="../media/image110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svg"/><Relationship Id="rId8" Type="http://schemas.openxmlformats.org/officeDocument/2006/relationships/image" Target="../media/image116.png"/><Relationship Id="rId7" Type="http://schemas.openxmlformats.org/officeDocument/2006/relationships/image" Target="../media/image115.svg"/><Relationship Id="rId6" Type="http://schemas.openxmlformats.org/officeDocument/2006/relationships/image" Target="../media/image114.png"/><Relationship Id="rId5" Type="http://schemas.openxmlformats.org/officeDocument/2006/relationships/image" Target="../media/image83.svg"/><Relationship Id="rId4" Type="http://schemas.openxmlformats.org/officeDocument/2006/relationships/image" Target="../media/image82.png"/><Relationship Id="rId3" Type="http://schemas.openxmlformats.org/officeDocument/2006/relationships/image" Target="../media/image93.svg"/><Relationship Id="rId2" Type="http://schemas.openxmlformats.org/officeDocument/2006/relationships/image" Target="../media/image92.png"/><Relationship Id="rId11" Type="http://schemas.openxmlformats.org/officeDocument/2006/relationships/notesSlide" Target="../notesSlides/notesSlide2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3.svg"/><Relationship Id="rId8" Type="http://schemas.openxmlformats.org/officeDocument/2006/relationships/image" Target="../media/image122.png"/><Relationship Id="rId7" Type="http://schemas.openxmlformats.org/officeDocument/2006/relationships/image" Target="../media/image121.svg"/><Relationship Id="rId6" Type="http://schemas.openxmlformats.org/officeDocument/2006/relationships/image" Target="../media/image120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3" Type="http://schemas.openxmlformats.org/officeDocument/2006/relationships/image" Target="../media/image119.svg"/><Relationship Id="rId2" Type="http://schemas.openxmlformats.org/officeDocument/2006/relationships/image" Target="../media/image118.png"/><Relationship Id="rId11" Type="http://schemas.openxmlformats.org/officeDocument/2006/relationships/notesSlide" Target="../notesSlides/notesSlide23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7.svg"/><Relationship Id="rId8" Type="http://schemas.openxmlformats.org/officeDocument/2006/relationships/image" Target="../media/image126.png"/><Relationship Id="rId7" Type="http://schemas.openxmlformats.org/officeDocument/2006/relationships/image" Target="../media/image105.svg"/><Relationship Id="rId6" Type="http://schemas.openxmlformats.org/officeDocument/2006/relationships/image" Target="../media/image104.png"/><Relationship Id="rId5" Type="http://schemas.openxmlformats.org/officeDocument/2006/relationships/image" Target="../media/image125.svg"/><Relationship Id="rId4" Type="http://schemas.openxmlformats.org/officeDocument/2006/relationships/image" Target="../media/image124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25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31.svg"/><Relationship Id="rId4" Type="http://schemas.openxmlformats.org/officeDocument/2006/relationships/image" Target="../media/image130.png"/><Relationship Id="rId3" Type="http://schemas.openxmlformats.org/officeDocument/2006/relationships/image" Target="../media/image129.svg"/><Relationship Id="rId2" Type="http://schemas.openxmlformats.org/officeDocument/2006/relationships/image" Target="../media/image128.png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7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33.svg"/><Relationship Id="rId2" Type="http://schemas.openxmlformats.org/officeDocument/2006/relationships/image" Target="../media/image13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E32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65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翻转课堂：从入门到精通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2540000"/>
            <a:ext cx="1524000" cy="381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小组作业汇报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191000" y="4445000"/>
            <a:ext cx="3810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4635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953000" y="46101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汇报人：G10</a:t>
            </a:r>
            <a:r>
              <a:rPr lang="zh-CN" altLang="en-US" sz="16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</a:t>
            </a:r>
            <a:endParaRPr lang="en-US" sz="1100" dirty="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50165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4953000" y="49911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日期：2026年3月29日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B0C4DE">
                  <a:alpha val="100000"/>
                </a:srgbClr>
              </a:gs>
              <a:gs pos="100000">
                <a:srgbClr val="4682B4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" y="45403"/>
            <a:ext cx="1550035" cy="12934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25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1587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286000" y="1587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课前预习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191000" y="1587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概述与基础认知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2286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514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2476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2476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课中互动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191000" y="2476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核心功能演示与实操演练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3175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03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460500" y="3365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286000" y="3365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案例分析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191000" y="3365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图书管理系统 UML 建模实战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06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292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4254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2286000" y="4254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课后总结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4191000" y="4254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同类工具对比与未来展望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4953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181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460500" y="51435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2286000" y="51435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互动答疑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4191000" y="5143500"/>
            <a:ext cx="571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课程问题解答与交流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课前预习：什么是 Rational Rose？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92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651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核心定义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IBM公司开发的一款基于UML的可视化建模工具，专注于面向对象的分析与设计。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25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984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主要用途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软件工程领域的经典工具，广泛用于系统分析、架构设计及项目文档化管理。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080000" cy="1143000"/>
          </a:xfrm>
          <a:prstGeom prst="roundRect">
            <a:avLst>
              <a:gd name="adj" fmla="val 11111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59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18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发展历史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最初由Rational Software公司开发，后被IBM收购，成为其软件产品线的重要组成部分。</a:t>
            </a:r>
            <a:endParaRPr lang="en-US" sz="16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4318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4682B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/>
          <a:srcRect t="102" b="102"/>
          <a:stretch>
            <a:fillRect/>
          </a:stretch>
        </p:blipFill>
        <p:spPr>
          <a:xfrm>
            <a:off x="6604000" y="1816100"/>
            <a:ext cx="3810000" cy="2463800"/>
          </a:xfrm>
          <a:prstGeom prst="rect">
            <a:avLst/>
          </a:prstGeom>
          <a:noFill/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6350000" y="4699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78787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软件操作界面示意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0" y="6756400"/>
            <a:ext cx="12192000" cy="1016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为什么选择 Rational Rose？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6"/>
            </p:custDataLst>
          </p:nvPr>
        </p:nvSpPr>
        <p:spPr>
          <a:xfrm>
            <a:off x="1778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全面支持UML标准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7"/>
            </p:custDataLst>
          </p:nvPr>
        </p:nvSpPr>
        <p:spPr>
          <a:xfrm>
            <a:off x="1778000" y="2159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提供用例图、类图、时序图等多种图表类型，满足不同阶段的建模需求。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8"/>
            </p:custDataLst>
          </p:nvPr>
        </p:nvSpPr>
        <p:spPr>
          <a:xfrm>
            <a:off x="6350000" y="1524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1778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12"/>
            </p:custDataLst>
          </p:nvPr>
        </p:nvSpPr>
        <p:spPr>
          <a:xfrm>
            <a:off x="7366000" y="1714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强大的双向工程能力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13"/>
            </p:custDataLst>
          </p:nvPr>
        </p:nvSpPr>
        <p:spPr>
          <a:xfrm>
            <a:off x="7366000" y="2159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实现模型与代码的实时同步，正向生成代码与逆向工程，大幅提高开发效率。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4"/>
            </p:custDataLst>
          </p:nvPr>
        </p:nvSpPr>
        <p:spPr>
          <a:xfrm>
            <a:off x="762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3810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18"/>
            </p:custDataLst>
          </p:nvPr>
        </p:nvSpPr>
        <p:spPr>
          <a:xfrm>
            <a:off x="1778000" y="374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支持团队协作</a:t>
            </a:r>
            <a:endParaRPr lang="en-US" sz="1100"/>
          </a:p>
        </p:txBody>
      </p:sp>
      <p:sp>
        <p:nvSpPr>
          <p:cNvPr id="16" name="AutoShape 16"/>
          <p:cNvSpPr/>
          <p:nvPr>
            <p:custDataLst>
              <p:tags r:id="rId19"/>
            </p:custDataLst>
          </p:nvPr>
        </p:nvSpPr>
        <p:spPr>
          <a:xfrm>
            <a:off x="1778000" y="4191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支持多人同时编辑与版本控制，便于团队成员共享设计成果和协作开发。</a:t>
            </a:r>
            <a:endParaRPr lang="en-US" sz="1100"/>
          </a:p>
        </p:txBody>
      </p:sp>
      <p:sp>
        <p:nvSpPr>
          <p:cNvPr id="17" name="AutoShape 17"/>
          <p:cNvSpPr/>
          <p:nvPr>
            <p:custDataLst>
              <p:tags r:id="rId20"/>
            </p:custDataLst>
          </p:nvPr>
        </p:nvSpPr>
        <p:spPr>
          <a:xfrm>
            <a:off x="6350000" y="3556000"/>
            <a:ext cx="5080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604000" y="38100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>
            <p:custDataLst>
              <p:tags r:id="rId24"/>
            </p:custDataLst>
          </p:nvPr>
        </p:nvSpPr>
        <p:spPr>
          <a:xfrm>
            <a:off x="7366000" y="37465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丰富的文档生成功能</a:t>
            </a:r>
            <a:endParaRPr lang="en-US" sz="1100"/>
          </a:p>
        </p:txBody>
      </p:sp>
      <p:sp>
        <p:nvSpPr>
          <p:cNvPr id="20" name="AutoShape 20"/>
          <p:cNvSpPr/>
          <p:nvPr>
            <p:custDataLst>
              <p:tags r:id="rId25"/>
            </p:custDataLst>
          </p:nvPr>
        </p:nvSpPr>
        <p:spPr>
          <a:xfrm>
            <a:off x="7366000" y="419100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自动从模型中提取信息生成规范的设计文档，减少人工编写文档的繁琐工作。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387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互动问题一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cap="flat" cmpd="sng">
            <a:solidFill>
              <a:srgbClr val="88A2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778000"/>
            <a:ext cx="1016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7000" y="2032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159000" y="1968500"/>
            <a:ext cx="8636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在软件工程中，UML建模的主要目的是什么？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Rose在其中扮演了什么角色？</a:t>
            </a:r>
            <a:endParaRPr 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10160000" cy="1016000"/>
          </a:xfrm>
          <a:prstGeom prst="roundRect">
            <a:avLst>
              <a:gd name="adj" fmla="val 12500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4682B4">
                <a:alpha val="4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000" y="4622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159000" y="44450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提示：请同学们结合预习内容思考，并准备在课堂上分享你的观点。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课中互动：安装与界面介绍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1016000"/>
          </a:xfrm>
          <a:prstGeom prst="roundRect">
            <a:avLst>
              <a:gd name="adj" fmla="val 12500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272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2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安装步骤：</a:t>
            </a: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确保系统满足配置要求，运行安装程序，按照向导提示完成软件部署。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5080000" cy="2921000"/>
          </a:xfrm>
          <a:prstGeom prst="roundRect">
            <a:avLst>
              <a:gd name="adj" fmla="val 4347"/>
            </a:avLst>
          </a:prstGeom>
          <a:solidFill>
            <a:srgbClr val="F0F8FF">
              <a:alpha val="100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主界面核心功能区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766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238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菜单栏：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包含系统所有核心操作命令入口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83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6449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工具栏：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提供常用功能的一键快捷操作按钮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894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0513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模型浏览器：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以树形结构展示项目的层级关系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4958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4577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图表编辑区：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可视化绘制与编辑UML图表的核心区域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6000" y="49022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397000" y="48641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文档区：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显示元素详细属性信息及相关文档描述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4"/>
          <a:srcRect t="121" b="121"/>
          <a:stretch>
            <a:fillRect/>
          </a:stretch>
        </p:blipFill>
        <p:spPr>
          <a:xfrm>
            <a:off x="6604000" y="1778000"/>
            <a:ext cx="3556000" cy="2298700"/>
          </a:xfrm>
          <a:prstGeom prst="rect">
            <a:avLst/>
          </a:prstGeom>
          <a:noFill/>
          <a:ln w="25400" cap="flat" cmpd="sng">
            <a:solidFill>
              <a:srgbClr val="4682B4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15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604000" y="4191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1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主界面概览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30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创建第一个项目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65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87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新建项目：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点击菜单栏的 File -&gt; New -&gt; Project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44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667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选择类型：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在对话框中选择 Empty Project 等类型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924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7465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设置信息：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输入项目名称，并指定保存路径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762500"/>
            <a:ext cx="5334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003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26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完成创建：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点击 OK 按钮，开始您的建模之旅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12000" y="1778000"/>
            <a:ext cx="4064000" cy="2794000"/>
          </a:xfrm>
          <a:prstGeom prst="roundRect">
            <a:avLst>
              <a:gd name="adj" fmla="val 4545"/>
            </a:avLst>
          </a:prstGeom>
          <a:solidFill>
            <a:srgbClr val="4682B4">
              <a:alpha val="10000"/>
            </a:srgbClr>
          </a:solidFill>
          <a:ln w="12700" cap="flat" cmpd="sng">
            <a:solidFill>
              <a:srgbClr val="4682B4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239000" y="1905000"/>
            <a:ext cx="3810000" cy="2540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19" name="AutoShape 19"/>
          <p:cNvSpPr/>
          <p:nvPr/>
        </p:nvSpPr>
        <p:spPr>
          <a:xfrm>
            <a:off x="7112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操作界面示例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用例图的绘制（一）：基本概念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01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24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用例图的作用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描述系统的功能和用户与系统的交互。</a:t>
            </a:r>
            <a:endParaRPr 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667000"/>
            <a:ext cx="5334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79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基本元素构成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302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2512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参与者 (Actor)：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交互的外部实体（人/系统/设备）。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592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7084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 (Use Case)：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系统提供的功能或服务。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2164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397000" y="41656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系统边界：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表示系统的范围与界限。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46736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97000" y="4622800"/>
            <a:ext cx="457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包括关联、包含、扩展等类型。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604000" y="1397000"/>
            <a:ext cx="4572000" cy="2921000"/>
          </a:xfrm>
          <a:prstGeom prst="roundRect">
            <a:avLst>
              <a:gd name="adj" fmla="val 4347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4682B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/>
          <a:srcRect t="140" b="140"/>
          <a:stretch>
            <a:fillRect/>
          </a:stretch>
        </p:blipFill>
        <p:spPr>
          <a:xfrm>
            <a:off x="7366000" y="1524000"/>
            <a:ext cx="3048000" cy="2413000"/>
          </a:xfrm>
          <a:prstGeom prst="roundRect">
            <a:avLst>
              <a:gd name="adj" fmla="val 2631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20" name="AutoShape 20"/>
          <p:cNvSpPr/>
          <p:nvPr/>
        </p:nvSpPr>
        <p:spPr>
          <a:xfrm>
            <a:off x="6604000" y="444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图示：用例图元素与关系示例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用例图的绘制（二）：实践操作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765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1587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打开用例视图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在模型浏览器中展开 Use Case View 视图。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844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460500" y="2667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创建参与者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Actor 工具，在编辑区绘制参与者角色。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924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37465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创建用例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 Use Case 工具，绘制具体的功能用例。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762500"/>
            <a:ext cx="5588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50038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460500" y="4826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建立关联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Association 工具连接参与者与用例。</a:t>
            </a:r>
            <a:endParaRPr lang="en-US" sz="14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112000" y="1651000"/>
            <a:ext cx="4191000" cy="3302000"/>
          </a:xfrm>
          <a:prstGeom prst="roundRect">
            <a:avLst>
              <a:gd name="adj" fmla="val 1923"/>
            </a:avLst>
          </a:prstGeom>
          <a:solidFill>
            <a:srgbClr val="FFFFFF">
              <a:alpha val="5000"/>
            </a:srgbClr>
          </a:solidFill>
          <a:ln w="25400" cap="flat" cmpd="sng">
            <a:solidFill>
              <a:srgbClr val="4682B4">
                <a:alpha val="100000"/>
              </a:srgbClr>
            </a:solidFill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 t="40" b="40"/>
          <a:stretch>
            <a:fillRect/>
          </a:stretch>
        </p:blipFill>
        <p:spPr>
          <a:xfrm>
            <a:off x="7175500" y="1727200"/>
            <a:ext cx="4064000" cy="314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112000" y="5080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用例图绘制界面示例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387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互动问题二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682B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6162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2032000" y="2159000"/>
            <a:ext cx="889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在图书管理系统中，“读者”和“借阅图书”分别属于用例图中的什么元素？它们之间是什么关系？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419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622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2032000" y="4318000"/>
            <a:ext cx="889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</a:t>
            </a:r>
            <a:r>
              <a:rPr lang="en-US" sz="18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请同学们尝试在脑海中构建一个简单的图书管理系统用例图。</a:t>
            </a:r>
            <a:endParaRPr lang="en-US" sz="1100"/>
          </a:p>
        </p:txBody>
      </p:sp>
      <p:sp>
        <p:nvSpPr>
          <p:cNvPr id="12" name="文本框 11"/>
          <p:cNvSpPr txBox="1"/>
          <p:nvPr/>
        </p:nvSpPr>
        <p:spPr>
          <a:xfrm>
            <a:off x="889000" y="5756275"/>
            <a:ext cx="10541000" cy="1022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读者</a:t>
            </a:r>
            <a:r>
              <a:rPr lang="en-US" altLang="zh-CN">
                <a:solidFill>
                  <a:schemeClr val="bg1"/>
                </a:solidFill>
              </a:rPr>
              <a:t>” </a:t>
            </a:r>
            <a:r>
              <a:rPr lang="zh-CN" altLang="en-US">
                <a:solidFill>
                  <a:schemeClr val="bg1"/>
                </a:solidFill>
              </a:rPr>
              <a:t>属于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参与者（</a:t>
            </a:r>
            <a:r>
              <a:rPr lang="en-US" altLang="zh-CN">
                <a:solidFill>
                  <a:schemeClr val="bg1"/>
                </a:solidFill>
              </a:rPr>
              <a:t>Actor</a:t>
            </a:r>
            <a:r>
              <a:rPr lang="zh-CN" altLang="en-US">
                <a:solidFill>
                  <a:schemeClr val="bg1"/>
                </a:solidFill>
              </a:rPr>
              <a:t>），表示与系统交互的外部实体（人或其他系统）。</a:t>
            </a:r>
            <a:endParaRPr lang="zh-CN" altLang="en-US">
              <a:solidFill>
                <a:schemeClr val="bg1"/>
              </a:solidFill>
            </a:endParaRPr>
          </a:p>
          <a:p>
            <a:endParaRPr lang="en-US" altLang="zh-CN">
              <a:solidFill>
                <a:schemeClr val="bg1"/>
              </a:solidFill>
            </a:endParaRPr>
          </a:p>
          <a:p>
            <a:r>
              <a:rPr lang="en-US" altLang="zh-CN">
                <a:solidFill>
                  <a:schemeClr val="bg1"/>
                </a:solidFill>
              </a:rPr>
              <a:t>“</a:t>
            </a:r>
            <a:r>
              <a:rPr lang="zh-CN" altLang="en-US">
                <a:solidFill>
                  <a:schemeClr val="bg1"/>
                </a:solidFill>
              </a:rPr>
              <a:t>借阅图书</a:t>
            </a:r>
            <a:r>
              <a:rPr lang="en-US" altLang="zh-CN">
                <a:solidFill>
                  <a:schemeClr val="bg1"/>
                </a:solidFill>
              </a:rPr>
              <a:t>” </a:t>
            </a:r>
            <a:r>
              <a:rPr lang="zh-CN" altLang="en-US">
                <a:solidFill>
                  <a:schemeClr val="bg1"/>
                </a:solidFill>
              </a:rPr>
              <a:t>属于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用例（</a:t>
            </a:r>
            <a:r>
              <a:rPr lang="en-US" altLang="zh-CN">
                <a:solidFill>
                  <a:schemeClr val="bg1"/>
                </a:solidFill>
              </a:rPr>
              <a:t>Use Case</a:t>
            </a:r>
            <a:r>
              <a:rPr lang="zh-CN" altLang="en-US">
                <a:solidFill>
                  <a:schemeClr val="bg1"/>
                </a:solidFill>
              </a:rPr>
              <a:t>），表示系统为参与者提供的一个完整功能或服务。</a:t>
            </a:r>
            <a:endParaRPr lang="zh-CN" altLang="en-US">
              <a:solidFill>
                <a:schemeClr val="bg1"/>
              </a:solidFill>
            </a:endParaRPr>
          </a:p>
          <a:p>
            <a:r>
              <a:rPr lang="zh-CN" altLang="en-US">
                <a:solidFill>
                  <a:schemeClr val="bg1"/>
                </a:solidFill>
              </a:rPr>
              <a:t>它们之间的关系是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关联关系（</a:t>
            </a:r>
            <a:r>
              <a:rPr lang="en-US" altLang="zh-CN">
                <a:solidFill>
                  <a:schemeClr val="bg1"/>
                </a:solidFill>
              </a:rPr>
              <a:t>Association</a:t>
            </a:r>
            <a:r>
              <a:rPr lang="zh-CN" altLang="en-US">
                <a:solidFill>
                  <a:schemeClr val="bg1"/>
                </a:solidFill>
              </a:rPr>
              <a:t>），用一条实线连接参与者和用例，表示该参与者可以执行该用例。</a:t>
            </a:r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类图的绘制（一）：基本概念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143000"/>
          </a:xfrm>
          <a:prstGeom prst="roundRect">
            <a:avLst>
              <a:gd name="adj" fmla="val 11111"/>
            </a:avLst>
          </a:prstGeom>
          <a:solidFill>
            <a:srgbClr val="4682B4">
              <a:alpha val="10000"/>
            </a:srgbClr>
          </a:solidFill>
          <a:ln cap="flat" cmpd="sng">
            <a:solidFill>
              <a:srgbClr val="2D699B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524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类图的核心作用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1968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描述系统的静态结构，涵盖类、属性、操作以及它们之间的复杂关系。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794000"/>
            <a:ext cx="5334000" cy="2540000"/>
          </a:xfrm>
          <a:prstGeom prst="roundRect">
            <a:avLst>
              <a:gd name="adj" fmla="val 5000"/>
            </a:avLst>
          </a:prstGeom>
          <a:solidFill>
            <a:srgbClr val="B0C4DE">
              <a:alpha val="20000"/>
            </a:srgbClr>
          </a:solidFill>
          <a:ln cap="flat" cmpd="sng">
            <a:solidFill>
              <a:srgbClr val="88A2C5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984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2921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基本构成元素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3365500"/>
            <a:ext cx="4953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08000"/>
              </a:lnSpc>
              <a:buClr>
                <a:srgbClr val="323232"/>
              </a:buClr>
              <a:buChar char="•"/>
              <a:defRPr/>
            </a:pP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 (Class)：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具有相同属性和操作的对象的抽象。</a:t>
            </a:r>
            <a:endParaRPr lang="en-US" sz="1100"/>
          </a:p>
          <a:p>
            <a:pPr marL="228600" indent="-228600" algn="l">
              <a:lnSpc>
                <a:spcPct val="108000"/>
              </a:lnSpc>
              <a:buClr>
                <a:srgbClr val="323232"/>
              </a:buClr>
              <a:buChar char="•"/>
            </a:pP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属性 (Attribute)：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类的静态特征或数据成员。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23232"/>
              </a:buClr>
              <a:buChar char="•"/>
            </a:pP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 (Operation)：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类的动态行为或方法。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08000"/>
              </a:lnSpc>
              <a:buClr>
                <a:srgbClr val="323232"/>
              </a:buClr>
              <a:buChar char="•"/>
            </a:pP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关系：</a:t>
            </a:r>
            <a:r>
              <a:rPr lang="en-US" sz="18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包括关联、继承、实现、依赖等。</a:t>
            </a:r>
            <a:endParaRPr lang="en-US" sz="1800" b="0" i="0" u="none" strike="noStrike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604000" y="1524000"/>
            <a:ext cx="4826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rcRect t="33" b="33"/>
          <a:stretch>
            <a:fillRect/>
          </a:stretch>
        </p:blipFill>
        <p:spPr>
          <a:xfrm>
            <a:off x="6858000" y="1651000"/>
            <a:ext cx="4318000" cy="209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858000" y="3873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类图元素与关系示例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54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类图的绘制（二）：实践操作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63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460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打开逻辑视图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在模型浏览器中展开 Logical View 节点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413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54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2476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创建类 (Class)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工具栏选择 Class 工具，在编辑区绘制类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429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670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3492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设置属性和操作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双击类，在弹出对话框中添加属性与方法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445000"/>
            <a:ext cx="5080000" cy="889000"/>
          </a:xfrm>
          <a:prstGeom prst="roundRect">
            <a:avLst>
              <a:gd name="adj" fmla="val 14285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686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5085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建立关系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使用关联、泛化等工具连接各个类元素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350000" y="1651000"/>
            <a:ext cx="4826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4682B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rcRect l="220" r="220"/>
          <a:stretch>
            <a:fillRect/>
          </a:stretch>
        </p:blipFill>
        <p:spPr>
          <a:xfrm>
            <a:off x="6477000" y="1778000"/>
            <a:ext cx="4572000" cy="15875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6350000" y="3810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类图绘制操作界面示例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708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682B4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掌握基础操作是构建复杂系统模型的第一步，后续将深入探讨设计模式与类图结合。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时序图的绘制（一）：基本概念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B0C4DE">
              <a:alpha val="20000"/>
            </a:srgbClr>
          </a:solidFill>
          <a:ln w="12700" cap="flat" cmpd="sng">
            <a:solidFill>
              <a:srgbClr val="468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524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时序图的作用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描述对象之间的交互顺序，展示消息在对象间的传递过程，清晰呈现特定场景下的动态行为。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2921000"/>
            <a:ext cx="5334000" cy="2413000"/>
          </a:xfrm>
          <a:prstGeom prst="roundRect">
            <a:avLst>
              <a:gd name="adj" fmla="val 5263"/>
            </a:avLst>
          </a:prstGeom>
          <a:solidFill>
            <a:srgbClr val="B0C4DE">
              <a:alpha val="20000"/>
            </a:srgbClr>
          </a:solidFill>
          <a:ln w="12700" cap="flat" cmpd="sng">
            <a:solidFill>
              <a:srgbClr val="4682B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115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073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核心构成元素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3556000"/>
            <a:ext cx="482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 (Object)：</a:t>
            </a: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交互的参与者，位于图的顶部。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生命线 (Lifeline)：</a:t>
            </a: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垂直虚线，表示对象在一段时间内的存在。</a:t>
            </a:r>
            <a:endParaRPr 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25000"/>
              </a:lnSpc>
              <a:buClr>
                <a:srgbClr val="333333"/>
              </a:buClr>
              <a:buChar char="•"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 (Message)：</a:t>
            </a: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对象间的通信，包括同步、异步等类型。</a:t>
            </a:r>
            <a:endParaRPr lang="en-US" sz="18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604000" y="1651000"/>
            <a:ext cx="4064000" cy="3175000"/>
          </a:xfrm>
          <a:prstGeom prst="roundRect">
            <a:avLst>
              <a:gd name="adj" fmla="val 4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101600" dir="5400000" algn="tl" rotWithShape="0">
              <a:srgbClr val="4682B4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rcRect l="243" r="243"/>
          <a:stretch>
            <a:fillRect/>
          </a:stretch>
        </p:blipFill>
        <p:spPr>
          <a:xfrm>
            <a:off x="6731000" y="1752600"/>
            <a:ext cx="3810000" cy="2971800"/>
          </a:xfrm>
          <a:prstGeom prst="roundRect">
            <a:avLst>
              <a:gd name="adj" fmla="val 427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6604000" y="4953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时序图元素结构示意图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时序图的绘制（二）：实践操作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524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270000" y="1460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创建时序图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在Logical View中右键，选择 New -&gt; Sequence Diagram。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413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349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添加对象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使用工具栏 Object 工具，在编辑区添加交互对象。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30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238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添加消息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Message 工具连接对象，设置消息名称与顺序。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191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127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4. 设置消息类型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区分同步、异步或返回消息，完善交互细节。</a:t>
            </a:r>
            <a:endParaRPr lang="en-US" sz="1600" b="0" i="0" u="none" strike="noStrike">
              <a:solidFill>
                <a:srgbClr val="DCDCD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731000" y="1460500"/>
            <a:ext cx="3810000" cy="22225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rcRect t="1" b="1"/>
          <a:stretch>
            <a:fillRect/>
          </a:stretch>
        </p:blipFill>
        <p:spPr>
          <a:xfrm>
            <a:off x="6858000" y="1600200"/>
            <a:ext cx="3556000" cy="1943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6731000" y="3810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 时序图绘制界面示例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682B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通过以上四步，即可完成基础时序图的构建，清晰展示对象间的动态交互过程。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38700" y="635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互动问题三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3970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cap="flat" cmpd="sng">
            <a:solidFill>
              <a:srgbClr val="88A2C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905000"/>
            <a:ext cx="10668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159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2095500"/>
            <a:ext cx="9652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请描述在“用户登录”场景中，用户、系统和数据库之间的交互过程，</a:t>
            </a:r>
            <a:r>
              <a:rPr lang="zh-CN" alt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并说明</a:t>
            </a:r>
            <a:endParaRPr lang="zh-CN" altLang="en-US" sz="22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445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4682B4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4800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651000" y="4572000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思考提示：</a:t>
            </a:r>
            <a:r>
              <a:rPr lang="en-US" sz="18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重点关注消息的发送顺序和不同对象之间的交互关系。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案例分析：图书管理系统建模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系统功能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图书信息管理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读者信息管理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借阅流程管理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查询与统计分析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参与者角色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读者 (Reader)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400" b="0" i="0" u="none" strike="noStrike">
                <a:solidFill>
                  <a:srgbClr val="B0C4DE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执行借阅、归还、查询操作</a:t>
            </a:r>
            <a:endParaRPr lang="en-US" sz="1400" b="0" i="0" u="none" strike="noStrike">
              <a:solidFill>
                <a:srgbClr val="B0C4DE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管理员 (Admin)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400" b="0" i="0" u="none" strike="noStrike">
                <a:solidFill>
                  <a:srgbClr val="B0C4DE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负责系统配置、用户与图书维护</a:t>
            </a:r>
            <a:endParaRPr lang="en-US" sz="1400" b="0" i="0" u="none" strike="noStrike">
              <a:solidFill>
                <a:srgbClr val="B0C4DE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890000" y="18796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核心用例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借阅图书 / 归还图书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查询图书信息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管理图书库存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03200" indent="-203200" algn="l">
              <a:lnSpc>
                <a:spcPct val="125000"/>
              </a:lnSpc>
              <a:buClr>
                <a:srgbClr val="B0C4DE"/>
              </a:buClr>
              <a:buChar char="•"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用户信息管理</a:t>
            </a:r>
            <a:endParaRPr lang="en-US" sz="16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0" y="63500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0"/>
                </a:srgbClr>
              </a:gs>
              <a:gs pos="50000">
                <a:srgbClr val="4682B4">
                  <a:alpha val="100000"/>
                </a:srgbClr>
              </a:gs>
              <a:gs pos="100000">
                <a:srgbClr val="4682B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520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通过对系统功能、参与者及核心用例的梳理，构建完整的图书管理系统模型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537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图书管理系统用例图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762032" y="12128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B0C4D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4318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0000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5000" y="1778000"/>
            <a:ext cx="3302000" cy="330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762000" y="5461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图中展示了读者与管理员的核心交互流程及系统功能模块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00" y="5588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5179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图书管理系统类图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699000" y="1397000"/>
            <a:ext cx="2794000" cy="2794000"/>
          </a:xfrm>
          <a:prstGeom prst="roundRect">
            <a:avLst>
              <a:gd name="adj" fmla="val 4545"/>
            </a:avLst>
          </a:prstGeom>
          <a:noFill/>
          <a:ln w="25400" cap="flat" cmpd="sng">
            <a:solidFill>
              <a:srgbClr val="B0C4DE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682B4">
                <a:alpha val="5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445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核心类与关系概览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5080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该类图构建了图书管理系统的核心数据模型，包含四个关键实体：</a:t>
            </a:r>
            <a:endParaRPr lang="en-US" sz="1100"/>
          </a:p>
          <a:p>
            <a:pPr indent="0" algn="ctr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Book (图书)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：存储书籍基本信息（ISBN、书名、作者）</a:t>
            </a:r>
            <a:r>
              <a:rPr lang="en-US" sz="1800" b="0" i="0" u="none" strike="noStrike">
                <a:solidFill>
                  <a:srgbClr val="B0C4D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Reader (读者)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：记录借阅者身份信息</a:t>
            </a:r>
            <a:endParaRPr lang="en-US" sz="18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08000"/>
              </a:lnSpc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BorrowRecord (借阅记录)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：关联图书与读者，记录借还状态</a:t>
            </a:r>
            <a:r>
              <a:rPr lang="en-US" sz="1800" b="0" i="0" u="none" strike="noStrike">
                <a:solidFill>
                  <a:srgbClr val="B0C4DE">
                    <a:alpha val="3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18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Librarian (管理员)</a:t>
            </a: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：负责系统的日常维护与管理</a:t>
            </a:r>
            <a:endParaRPr lang="en-US" sz="1800" b="0" i="0" u="none" strike="noStrike">
              <a:solidFill>
                <a:srgbClr val="B0C4D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图书管理系统时序图（借阅图书）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445000" y="1397000"/>
            <a:ext cx="3302000" cy="3302000"/>
          </a:xfrm>
          <a:prstGeom prst="roundRect">
            <a:avLst>
              <a:gd name="adj" fmla="val 3846"/>
            </a:avLst>
          </a:prstGeom>
          <a:noFill/>
          <a:ln w="25400" cap="flat" cmpd="sng">
            <a:solidFill>
              <a:srgbClr val="B0C4DE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000000">
                <a:alpha val="50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762000" y="4953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展示“借阅图书”场景中，读者、图书管理系统和数据库之间的交互过程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387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互动问题四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34376">
            <a:off x="5461032" y="1263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B0C4D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10668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905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651000" y="1841500"/>
            <a:ext cx="889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在图书管理系统中，“Book”类和“BorrowRecord”类之间是什么关系？请解释这种关系的含义。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143000" y="3302000"/>
            <a:ext cx="9906000" cy="635000"/>
          </a:xfrm>
          <a:prstGeom prst="roundRect">
            <a:avLst>
              <a:gd name="adj" fmla="val 10000"/>
            </a:avLst>
          </a:prstGeom>
          <a:solidFill>
            <a:srgbClr val="4682B4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97000" y="34925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3429000"/>
            <a:ext cx="914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提示：</a:t>
            </a: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回顾类图中关系的类型和含义（如关联、依赖、继承、实现等）。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58800" y="508000"/>
            <a:ext cx="11074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课后总结：Rational Rose 优缺点分析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4682B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79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90EE9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 (Pros)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3495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17000"/>
              </a:lnSpc>
              <a:buClr>
                <a:srgbClr val="E0F7FA"/>
              </a:buClr>
              <a:buChar char="•"/>
              <a:defRPr/>
            </a:pPr>
            <a:r>
              <a:rPr lang="en-US" sz="1800" b="0" i="0" u="none" strike="noStrike">
                <a:solidFill>
                  <a:srgbClr val="E0F7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功能强大，全面支持UML标准规范</a:t>
            </a:r>
            <a:endParaRPr lang="en-US" sz="1100"/>
          </a:p>
          <a:p>
            <a:pPr marL="228600" indent="-228600" algn="l">
              <a:lnSpc>
                <a:spcPct val="117000"/>
              </a:lnSpc>
              <a:buClr>
                <a:srgbClr val="E0F7FA"/>
              </a:buClr>
              <a:buChar char="•"/>
            </a:pPr>
            <a:r>
              <a:rPr lang="en-US" sz="1800" b="0" i="0" u="none" strike="noStrike">
                <a:solidFill>
                  <a:srgbClr val="E0F7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具备强大的正向与逆向工程双向能力</a:t>
            </a:r>
            <a:endParaRPr lang="en-US" sz="1800" b="0" i="0" u="none" strike="noStrike">
              <a:solidFill>
                <a:srgbClr val="E0F7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E0F7FA"/>
              </a:buClr>
              <a:buChar char="•"/>
            </a:pPr>
            <a:r>
              <a:rPr lang="en-US" sz="1800" b="0" i="0" u="none" strike="noStrike">
                <a:solidFill>
                  <a:srgbClr val="E0F7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完善的团队协作机制与版本控制支持</a:t>
            </a:r>
            <a:endParaRPr lang="en-US" sz="1800" b="0" i="0" u="none" strike="noStrike">
              <a:solidFill>
                <a:srgbClr val="E0F7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E0F7FA"/>
              </a:buClr>
              <a:buChar char="•"/>
            </a:pPr>
            <a:r>
              <a:rPr lang="en-US" sz="1800" b="0" i="0" u="none" strike="noStrike">
                <a:solidFill>
                  <a:srgbClr val="E0F7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自动生成丰富的工程文档，提高效率</a:t>
            </a:r>
            <a:endParaRPr lang="en-US" sz="1800" b="0" i="0" u="none" strike="noStrike">
              <a:solidFill>
                <a:srgbClr val="E0F7FA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879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841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B6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存在局限 (Cons)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349500"/>
            <a:ext cx="4572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17000"/>
              </a:lnSpc>
              <a:buClr>
                <a:srgbClr val="F0F8FF"/>
              </a:buClr>
              <a:buChar char="•"/>
              <a:defRPr/>
            </a:pPr>
            <a:r>
              <a:rPr lang="en-US" sz="1800" b="0" i="0" u="none" strike="noStrike">
                <a:solidFill>
                  <a:srgbClr val="F0F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界面风格相对陈旧，学习曲线较为陡峭</a:t>
            </a:r>
            <a:endParaRPr lang="en-US" sz="1100"/>
          </a:p>
          <a:p>
            <a:pPr marL="228600" indent="-228600" algn="l">
              <a:lnSpc>
                <a:spcPct val="117000"/>
              </a:lnSpc>
              <a:buClr>
                <a:srgbClr val="F0F8FF"/>
              </a:buClr>
              <a:buChar char="•"/>
            </a:pPr>
            <a:r>
              <a:rPr lang="en-US" sz="1800" b="0" i="0" u="none" strike="noStrike">
                <a:solidFill>
                  <a:srgbClr val="F0F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对新兴现代技术框架的支持略显不足</a:t>
            </a:r>
            <a:endParaRPr lang="en-US" sz="1800" b="0" i="0" u="none" strike="noStrike">
              <a:solidFill>
                <a:srgbClr val="F0F8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228600" indent="-228600" algn="l">
              <a:lnSpc>
                <a:spcPct val="117000"/>
              </a:lnSpc>
              <a:buClr>
                <a:srgbClr val="F0F8FF"/>
              </a:buClr>
              <a:buChar char="•"/>
            </a:pPr>
            <a:r>
              <a:rPr lang="en-US" sz="1800" b="0" i="0" u="none" strike="noStrike">
                <a:solidFill>
                  <a:srgbClr val="F0F8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商业软件授权模式，需付费购买使用</a:t>
            </a:r>
            <a:endParaRPr lang="en-US" sz="1800" b="0" i="0" u="none" strike="noStrike">
              <a:solidFill>
                <a:srgbClr val="F0F8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588000"/>
            <a:ext cx="10668000" cy="508000"/>
          </a:xfrm>
          <a:prstGeom prst="roundRect">
            <a:avLst>
              <a:gd name="adj" fmla="val 12500"/>
            </a:avLst>
          </a:prstGeom>
          <a:solidFill>
            <a:srgbClr val="4682B4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89000" y="5651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总结：作为经典的UML建模工具，Rational Rose在大型项目和历史系统维护中仍有不可替代的价值。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课后总结：替代工具介绍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447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StarUML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15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开源、轻量级、跨平台，适合个人学习和小型项目。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1524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20447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366000" y="1714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Visual Paradigm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366000" y="2159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功能全面，支持敏捷开发和多种建模语言。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497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778000" y="361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Enterprise Architect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778000" y="4064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强大的建模和文档生成能力，适合大型项目。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3429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949700"/>
            <a:ext cx="609600" cy="609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366000" y="3619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Visio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366000" y="4064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简单易用，与Microsoft Office集成良好，适合快速绘图。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D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工具选择建议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根据项目规模和需求选择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小型项目可选轻量级工具，大型项目则需要功能更全面的工具以支撑复杂协作。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727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考虑团队熟悉度和学习成本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0" y="2159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优先选择团队成员熟悉的工具可以降低上手门槛，显著提高开发与协作效率。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42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683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632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评估工具的功能和兼容性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406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确保工具能满足项目特定需求，并能与现有的代码管理、CI/CD等开发工具无缝兼容。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3429000"/>
            <a:ext cx="5207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3683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36322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优先考虑开源和免费工具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985000" y="406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在满足需求的前提下，优先选择开源或免费工具，可有效降低项目长期的软件授权成本。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4682B4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565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合适的工具是项目成功的基石，需综合权衡多方因素进行决策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8387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互动问题五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91200" y="15240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762000" y="2286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通过本次翻转课堂的学习，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小明和小刚提出了疑问，小明想要和小伙伴们一起学习</a:t>
            </a:r>
            <a:r>
              <a:rPr lang="en-US" altLang="zh-CN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，小刚想要一个人接触学习一下。请从</a:t>
            </a:r>
            <a:r>
              <a:rPr lang="en-US" altLang="zh-CN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staruml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</a:t>
            </a:r>
            <a:r>
              <a:rPr lang="en-US" altLang="zh-CN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Rational Rose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里面选择合适的</a:t>
            </a:r>
            <a:r>
              <a:rPr lang="en-US" altLang="zh-CN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工具并向他们推荐</a:t>
            </a:r>
            <a:r>
              <a:rPr lang="zh-CN" altLang="en-US" sz="2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并说明理由。</a:t>
            </a:r>
            <a:endParaRPr lang="zh-CN" altLang="en-US" sz="20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651000" y="4191000"/>
            <a:ext cx="8890000" cy="762000"/>
          </a:xfrm>
          <a:prstGeom prst="roundRect">
            <a:avLst>
              <a:gd name="adj" fmla="val 16666"/>
            </a:avLst>
          </a:prstGeom>
          <a:solidFill>
            <a:srgbClr val="4682B4">
              <a:alpha val="15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905000" y="4343400"/>
            <a:ext cx="838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1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提示：请结合课程内容和实际应用场景进行思考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0"/>
                </a:srgbClr>
              </a:gs>
              <a:gs pos="50000">
                <a:srgbClr val="4682B4">
                  <a:alpha val="100000"/>
                </a:srgbClr>
              </a:gs>
              <a:gs pos="100000">
                <a:srgbClr val="4682B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304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学习资源推荐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1905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2540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官方文档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89000" y="298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IBM Rational Rose 官方文档，权威指南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068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2800" y="190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733800" y="2540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在线教程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33800" y="298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CSDN、博客园等平台的实战教程与博客分享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516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7600" y="1905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578600" y="2540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经典书籍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578600" y="298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《UML建模与Rational Rose实战》《UML和模式应用》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296400" y="1651000"/>
            <a:ext cx="2540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312400" y="1905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423400" y="2540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视频课程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423400" y="2984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B站、慕课网等平台的可视化视频教程资源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444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0"/>
                </a:srgbClr>
              </a:gs>
              <a:gs pos="50000">
                <a:srgbClr val="4682B4">
                  <a:alpha val="100000"/>
                </a:srgbClr>
              </a:gs>
              <a:gs pos="100000">
                <a:srgbClr val="4682B4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762000" y="469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通过多维度的学习资源组合，帮助您更高效地掌握 Rational Rose 与 UML 建模技能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25146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682B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B0C4D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609600" cy="609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78000" y="1841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课程总结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2286000"/>
            <a:ext cx="927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本次课程我们学习了Rational Rose的基本概念、核心功能和操作方法，并通过图书管理系统的案例进行了实践。希望大家能够掌握UML建模的基本技能，并能将其应用到实际项目中。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B0C4D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9370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778000" y="38735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778000" y="4318000"/>
            <a:ext cx="927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UML建模是软件工程的重要基础，希望大家在今后的学习和工作中，能够不断深入学习，提升自己的建模能力和软件工程素养，为未来的职业发展打下坚实基础。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682B4">
                  <a:alpha val="100000"/>
                </a:srgbClr>
              </a:gs>
              <a:gs pos="100000">
                <a:srgbClr val="B0C4DE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10870" y="4318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参考文献：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0545" y="1179830"/>
            <a:ext cx="11129010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一、经典教材与专著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邵维忠，杨芙清。面向对象分析与设计（第</a:t>
            </a:r>
            <a:r>
              <a:rPr lang="en-US" altLang="zh-CN"/>
              <a:t> 3 </a:t>
            </a:r>
            <a:r>
              <a:rPr lang="zh-CN" altLang="en-US"/>
              <a:t>版）</a:t>
            </a:r>
            <a:r>
              <a:rPr lang="en-US" altLang="zh-CN"/>
              <a:t>[M]. </a:t>
            </a:r>
            <a:r>
              <a:rPr lang="zh-CN" altLang="en-US"/>
              <a:t>北京：清华大学出版社，</a:t>
            </a:r>
            <a:r>
              <a:rPr lang="en-US" altLang="zh-CN"/>
              <a:t>2013.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张友生</a:t>
            </a:r>
            <a:r>
              <a:rPr lang="en-US" altLang="zh-CN"/>
              <a:t>. UML </a:t>
            </a:r>
            <a:r>
              <a:rPr lang="zh-CN" altLang="en-US"/>
              <a:t>面向对象分析与设计</a:t>
            </a:r>
            <a:r>
              <a:rPr lang="en-US" altLang="zh-CN"/>
              <a:t> [M]. </a:t>
            </a:r>
            <a:r>
              <a:rPr lang="zh-CN" altLang="en-US"/>
              <a:t>北京：电子工业出版社，</a:t>
            </a:r>
            <a:r>
              <a:rPr lang="en-US" altLang="zh-CN"/>
              <a:t>2020.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殷国勇</a:t>
            </a:r>
            <a:r>
              <a:rPr lang="en-US" altLang="zh-CN"/>
              <a:t>. UML </a:t>
            </a:r>
            <a:r>
              <a:rPr lang="zh-CN" altLang="en-US"/>
              <a:t>系统建模与分析设计</a:t>
            </a:r>
            <a:r>
              <a:rPr lang="en-US" altLang="zh-CN"/>
              <a:t> [M]. </a:t>
            </a:r>
            <a:r>
              <a:rPr lang="zh-CN" altLang="en-US"/>
              <a:t>南京：东南大学出版社，</a:t>
            </a:r>
            <a:r>
              <a:rPr lang="en-US" altLang="zh-CN"/>
              <a:t>2019.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王少锋。面向对象技术</a:t>
            </a:r>
            <a:r>
              <a:rPr lang="en-US" altLang="zh-CN"/>
              <a:t> UML </a:t>
            </a:r>
            <a:r>
              <a:rPr lang="zh-CN" altLang="en-US"/>
              <a:t>教程</a:t>
            </a:r>
            <a:r>
              <a:rPr lang="en-US" altLang="zh-CN"/>
              <a:t> [M]. </a:t>
            </a:r>
            <a:r>
              <a:rPr lang="zh-CN" altLang="en-US"/>
              <a:t>北京：清华大学出版社，</a:t>
            </a:r>
            <a:r>
              <a:rPr lang="en-US" altLang="zh-CN"/>
              <a:t>2018.</a:t>
            </a:r>
            <a:endParaRPr lang="en-US" altLang="zh-CN"/>
          </a:p>
          <a:p>
            <a:r>
              <a:rPr lang="en-US" altLang="zh-CN"/>
              <a:t>    Grady Booch, James Rumbaugh, Ivar Jacobson. UML </a:t>
            </a:r>
            <a:r>
              <a:rPr lang="zh-CN" altLang="en-US"/>
              <a:t>用户指南（第</a:t>
            </a:r>
            <a:r>
              <a:rPr lang="en-US" altLang="zh-CN"/>
              <a:t> 2 </a:t>
            </a:r>
            <a:r>
              <a:rPr lang="zh-CN" altLang="en-US"/>
              <a:t>版）</a:t>
            </a:r>
            <a:r>
              <a:rPr lang="en-US" altLang="zh-CN"/>
              <a:t>[M]. </a:t>
            </a:r>
            <a:r>
              <a:rPr lang="zh-CN" altLang="en-US"/>
              <a:t>邵维忠，译。北京：人民邮电出版社，</a:t>
            </a:r>
            <a:r>
              <a:rPr lang="en-US" altLang="zh-CN"/>
              <a:t>2011.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二、国家标准与行业规范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Object Management Group (OMG). UML 2.5 Specification[EB/OL]. https://www.omg.org/spec/UML/2.5, 2015.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中华人民共和国国家标准。软件工程</a:t>
            </a:r>
            <a:r>
              <a:rPr lang="en-US" altLang="zh-CN"/>
              <a:t> </a:t>
            </a:r>
            <a:r>
              <a:rPr lang="zh-CN" altLang="en-US"/>
              <a:t>产品质量</a:t>
            </a:r>
            <a:r>
              <a:rPr lang="en-US" altLang="zh-CN"/>
              <a:t> </a:t>
            </a:r>
            <a:r>
              <a:rPr lang="zh-CN" altLang="en-US"/>
              <a:t>第</a:t>
            </a:r>
            <a:r>
              <a:rPr lang="en-US" altLang="zh-CN"/>
              <a:t> 1 </a:t>
            </a:r>
            <a:r>
              <a:rPr lang="zh-CN" altLang="en-US"/>
              <a:t>部分：质量模型</a:t>
            </a:r>
            <a:r>
              <a:rPr lang="en-US" altLang="zh-CN"/>
              <a:t> GB/T 16260.1-2006 [S].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三、学术期刊与论文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李红，刘超</a:t>
            </a:r>
            <a:r>
              <a:rPr lang="en-US" altLang="zh-CN"/>
              <a:t>. UML </a:t>
            </a:r>
            <a:r>
              <a:rPr lang="zh-CN" altLang="en-US"/>
              <a:t>建模技术在软件工程中的应用研究</a:t>
            </a:r>
            <a:r>
              <a:rPr lang="en-US" altLang="zh-CN"/>
              <a:t> [J]. </a:t>
            </a:r>
            <a:r>
              <a:rPr lang="zh-CN" altLang="en-US"/>
              <a:t>计算机工程与设计，</a:t>
            </a:r>
            <a:r>
              <a:rPr lang="en-US" altLang="zh-CN"/>
              <a:t>2017, 38 (05):1245-1250.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陈明。面向对象方法与</a:t>
            </a:r>
            <a:r>
              <a:rPr lang="en-US" altLang="zh-CN"/>
              <a:t> UML </a:t>
            </a:r>
            <a:r>
              <a:rPr lang="zh-CN" altLang="en-US"/>
              <a:t>发展综述</a:t>
            </a:r>
            <a:r>
              <a:rPr lang="en-US" altLang="zh-CN"/>
              <a:t> [J]. </a:t>
            </a:r>
            <a:r>
              <a:rPr lang="zh-CN" altLang="en-US"/>
              <a:t>计算机科学，</a:t>
            </a:r>
            <a:r>
              <a:rPr lang="en-US" altLang="zh-CN"/>
              <a:t>2016, 43 (S1):12-16.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赵文斌。敏捷开发模式下</a:t>
            </a:r>
            <a:r>
              <a:rPr lang="en-US" altLang="zh-CN"/>
              <a:t> UML </a:t>
            </a:r>
            <a:r>
              <a:rPr lang="zh-CN" altLang="en-US"/>
              <a:t>轻量化应用探析</a:t>
            </a:r>
            <a:r>
              <a:rPr lang="en-US" altLang="zh-CN"/>
              <a:t> [J]. </a:t>
            </a:r>
            <a:r>
              <a:rPr lang="zh-CN" altLang="en-US"/>
              <a:t>信息技术与信息化，</a:t>
            </a:r>
            <a:r>
              <a:rPr lang="en-US" altLang="zh-CN"/>
              <a:t>2021 (03):189-191.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四、学位论文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张磊。基于</a:t>
            </a:r>
            <a:r>
              <a:rPr lang="en-US" altLang="zh-CN"/>
              <a:t> UML </a:t>
            </a:r>
            <a:r>
              <a:rPr lang="zh-CN" altLang="en-US"/>
              <a:t>的软件系统建模方法研究与实践</a:t>
            </a:r>
            <a:r>
              <a:rPr lang="en-US" altLang="zh-CN"/>
              <a:t> [D]. </a:t>
            </a:r>
            <a:r>
              <a:rPr lang="zh-CN" altLang="en-US"/>
              <a:t>上海：复旦大学，</a:t>
            </a:r>
            <a:r>
              <a:rPr lang="en-US" altLang="zh-CN"/>
              <a:t>2018.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刘佳</a:t>
            </a:r>
            <a:r>
              <a:rPr lang="en-US" altLang="zh-CN"/>
              <a:t>. UML diagrams in software engineering: Application and evolution [D]. London: University of Westminster, 2020.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AutoShape 3"/>
          <p:cNvSpPr/>
          <p:nvPr/>
        </p:nvSpPr>
        <p:spPr>
          <a:xfrm>
            <a:off x="1905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10870" y="4318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小组工作及其评分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968375" y="1127760"/>
          <a:ext cx="10306050" cy="5526405"/>
        </p:xfrm>
        <a:graphic>
          <a:graphicData uri="http://schemas.openxmlformats.org/drawingml/2006/table">
            <a:tbl>
              <a:tblPr/>
              <a:tblGrid>
                <a:gridCol w="881380"/>
                <a:gridCol w="3954780"/>
                <a:gridCol w="4696460"/>
                <a:gridCol w="773430"/>
              </a:tblGrid>
              <a:tr h="514985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1">
                          <a:latin typeface="等线" panose="02010600030101010101" charset="-122"/>
                          <a:ea typeface="等线" panose="02010600030101010101" charset="-122"/>
                        </a:rPr>
                        <a:t>姓名</a:t>
                      </a:r>
                      <a:endParaRPr lang="zh-CN" sz="12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1">
                          <a:latin typeface="等线" panose="02010600030101010101" charset="-122"/>
                          <a:ea typeface="等线" panose="02010600030101010101" charset="-122"/>
                        </a:rPr>
                        <a:t>具体分工</a:t>
                      </a:r>
                      <a:endParaRPr lang="zh-CN" sz="12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1">
                          <a:latin typeface="等线" panose="02010600030101010101" charset="-122"/>
                          <a:ea typeface="等线" panose="02010600030101010101" charset="-122"/>
                        </a:rPr>
                        <a:t>打分标准（总分</a:t>
                      </a:r>
                      <a:r>
                        <a:rPr lang="en-US" altLang="zh-CN" sz="1200" b="1">
                          <a:latin typeface="Arial" panose="020B0604020202020204"/>
                          <a:ea typeface="等线" panose="02010600030101010101" charset="-122"/>
                        </a:rPr>
                        <a:t>100</a:t>
                      </a:r>
                      <a:r>
                        <a:rPr lang="zh-CN" sz="1200" b="1">
                          <a:latin typeface="等线" panose="02010600030101010101" charset="-122"/>
                          <a:ea typeface="等线" panose="02010600030101010101" charset="-122"/>
                        </a:rPr>
                        <a:t>分）</a:t>
                      </a:r>
                      <a:endParaRPr lang="zh-CN" sz="12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 b="1">
                          <a:latin typeface="等线" panose="02010600030101010101" charset="-122"/>
                          <a:ea typeface="等线" panose="02010600030101010101" charset="-122"/>
                        </a:rPr>
                        <a:t>最终得分</a:t>
                      </a:r>
                      <a:endParaRPr lang="zh-CN" sz="1200" b="1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94740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  <a:sym typeface="+mn-ea"/>
                        </a:rPr>
                        <a:t>王振恺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整体框架搭建、版式设计及统一美化；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整合所有成员内容，确保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逻辑连贯、页数达标（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30-40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页）；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插入互动问题，优化页面衔接，适配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分钟演讲节奏；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最终审核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，修正格式、错别字及逻辑漏洞。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框架逻辑（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分）：框架完整覆盖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创建历史、发展、分类等要求，逻辑清晰；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版式美化（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分）：风格统一、简洁专业，重点突出，视觉舒适；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内容整合（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分）：整合流畅，无重复、遗漏，衔接自然；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审核质量（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分）：无格式错误、错别字，互动问题插入合理，适配演讲节奏。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98</a:t>
                      </a:r>
                      <a:endParaRPr lang="en-US" altLang="zh-CN" sz="12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  <a:tr h="984885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虞子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琰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核心基础内容撰写；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设计第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个互动问题及引导话术，配合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内容补充案例；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协助演讲者梳理该部分演讲逻辑，提供内容支撑。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内容准确性（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分）：历史、概念描述准确，无知识点错误；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内容丰富度（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分）：案例贴合知识点，讲解通俗易懂；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问题设计（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分）：问题贴合内容、有讨论价值，引导话术清晰；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协作配合（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分）：及时提交内容，积极配合框架整合，协助梳理演讲逻辑。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95</a:t>
                      </a:r>
                      <a:endParaRPr lang="en-US" altLang="zh-CN" sz="12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6630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冯沛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一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图分类及详解（结构类图：类图、用例图等）；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设计第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、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个互动问题，补充类图、用例图示例；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优化图表绘制，确保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图形符号标准、清晰。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知识点讲解（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分）：图的分类、符号、用法讲解准确，重点突出；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示例质量（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分）：示例贴合知识点，图形标准、清晰易懂；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问题设计（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个问题差异化，有深度，贴合讲解内容；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图形优化（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分）：图形绘制规范，视觉清晰，适配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版式。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92</a:t>
                      </a:r>
                      <a:endParaRPr lang="en-US" altLang="zh-CN" sz="12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7900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袁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萍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图分类及详解（行为类图：序列图、状态图、活动图等）；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设计第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、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个互动问题，补充序列图、状态图示例；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协助整理参考文献，规范引用格式。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知识点讲解（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分）：行为类图讲解准确，逻辑清晰，贴合实际应用；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示例质量（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分）：示例典型，能体现图的核心用法；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问题设计（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个问题贴合内容，能引导课堂讨论；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文献整理（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分）：参考文献格式规范，数量充足，贴合作业需求。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97</a:t>
                      </a:r>
                      <a:endParaRPr lang="en-US" altLang="zh-CN" sz="12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977265"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许霖烽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负责演讲文稿撰写，确保文稿与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一一对应，适配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分钟演讲节奏；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负责演讲演练，把控演讲语速、语气，配合互动问题引导课堂讨论；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补充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UML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应用场景及未来展望内容，完善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结尾部分。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1.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文稿质量（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分）：语言流畅，与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高度契合，无冗余，适配演讲节奏；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演讲准备（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25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分）：演练充分，能把控语速、语气，熟悉所有内容；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3.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互动引导（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分）：能清晰引导互动讨论，应对课堂提问；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4. 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内容补充（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20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分）：应用场景、未来展望内容贴合主题，完善</a:t>
                      </a: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PPT</a:t>
                      </a:r>
                      <a:r>
                        <a:rPr lang="zh-CN" sz="1200">
                          <a:latin typeface="等线" panose="02010600030101010101" charset="-122"/>
                          <a:ea typeface="等线" panose="02010600030101010101" charset="-122"/>
                        </a:rPr>
                        <a:t>结尾。</a:t>
                      </a:r>
                      <a:endParaRPr lang="zh-CN" sz="1200"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altLang="zh-CN" sz="1200">
                          <a:latin typeface="Arial" panose="020B0604020202020204"/>
                          <a:ea typeface="等线" panose="02010600030101010101" charset="-122"/>
                        </a:rPr>
                        <a:t>93</a:t>
                      </a:r>
                      <a:endParaRPr lang="en-US" altLang="zh-CN" sz="1200">
                        <a:latin typeface="Arial" panose="020B0604020202020204"/>
                        <a:ea typeface="等线" panose="02010600030101010101" charset="-122"/>
                      </a:endParaRPr>
                    </a:p>
                  </a:txBody>
                  <a:tcPr marL="76200" marR="76200" marT="38100" marB="1905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4756150" y="2032000"/>
            <a:ext cx="26797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感谢观看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84500"/>
            <a:ext cx="762000" cy="50800"/>
          </a:xfrm>
          <a:prstGeom prst="roundRect">
            <a:avLst>
              <a:gd name="adj" fmla="val 0"/>
            </a:avLst>
          </a:prstGeom>
          <a:solidFill>
            <a:srgbClr val="4682B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330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B0C4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感谢老师和同学们的聆听！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2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3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4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5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6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7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8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9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0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1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2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3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4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5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ags/tag16.xml><?xml version="1.0" encoding="utf-8"?>
<p:tagLst xmlns:p="http://schemas.openxmlformats.org/presentationml/2006/main">
  <p:tag name="KSO_WM_DIAGRAM_VIRTUALLY_FRAME" val="{&quot;height&quot;:300,&quot;left&quot;:60,&quot;top&quot;:12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5790</Words>
  <Application>WPS 演示</Application>
  <PresentationFormat>宽屏</PresentationFormat>
  <Paragraphs>441</Paragraphs>
  <Slides>29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0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等线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。</cp:lastModifiedBy>
  <cp:revision>8</cp:revision>
  <dcterms:created xsi:type="dcterms:W3CDTF">2026-03-31T04:45:00Z</dcterms:created>
  <dcterms:modified xsi:type="dcterms:W3CDTF">2026-03-31T07:58:14Z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E1DDD20938E24F1C8949FEF6CFF019BE_13</vt:lpwstr>
  </property>
  <property fmtid="{D5CDD505-2E9C-101B-9397-08002B2CF9AE}" pid="3" name="KSOProductBuildVer">
    <vt:lpwstr>2052-12.1.0.25225</vt:lpwstr>
  </property>
</Properties>
</file>